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38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2416" y="2514601"/>
            <a:ext cx="6600451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2416" y="4777380"/>
            <a:ext cx="6600451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8"/>
          <p:cNvSpPr/>
          <p:nvPr/>
        </p:nvSpPr>
        <p:spPr bwMode="auto">
          <a:xfrm>
            <a:off x="-31719" y="4321158"/>
            <a:ext cx="1395473" cy="781781"/>
          </a:xfrm>
          <a:custGeom>
            <a:avLst/>
            <a:gdLst/>
            <a:ahLst/>
            <a:cxnLst/>
            <a:rect l="l" t="t" r="r" b="b"/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23334" y="4529541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34742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133600"/>
            <a:ext cx="6591985" cy="377762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21517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074562"/>
            <a:ext cx="6591985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3581400"/>
            <a:ext cx="659198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9669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2416" y="2136706"/>
            <a:ext cx="3197531" cy="376739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7307" y="2136706"/>
            <a:ext cx="3197093" cy="376739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6118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5352" y="2226626"/>
            <a:ext cx="287459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2415" y="2802888"/>
            <a:ext cx="3197532" cy="3105703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6154" y="2223398"/>
            <a:ext cx="28732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33715" y="2799660"/>
            <a:ext cx="3195680" cy="3105703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84196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6097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6973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46088"/>
            <a:ext cx="2629584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3494" y="446089"/>
            <a:ext cx="3790906" cy="5414963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1598613"/>
            <a:ext cx="2629584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52929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800600"/>
            <a:ext cx="6591985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2415" y="634965"/>
            <a:ext cx="6591985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367338"/>
            <a:ext cx="6591985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4488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609600"/>
            <a:ext cx="6591985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52909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15972" y="3505200"/>
            <a:ext cx="5653888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348742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438401"/>
            <a:ext cx="6591985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27447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688292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688292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321198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6" y="627407"/>
            <a:ext cx="6591984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591985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3356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760876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8535" y="627406"/>
            <a:ext cx="1656132" cy="5283817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2416" y="627406"/>
            <a:ext cx="4716348" cy="528381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25476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1" y="228600"/>
            <a:ext cx="1981200" cy="6638628"/>
            <a:chOff x="2487613" y="285750"/>
            <a:chExt cx="2428875" cy="5654676"/>
          </a:xfrm>
        </p:grpSpPr>
        <p:sp>
          <p:nvSpPr>
            <p:cNvPr id="37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8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9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0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1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2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3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4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5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6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7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8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49" name="Group 48"/>
          <p:cNvGrpSpPr/>
          <p:nvPr/>
        </p:nvGrpSpPr>
        <p:grpSpPr>
          <a:xfrm>
            <a:off x="20421" y="285"/>
            <a:ext cx="1952272" cy="6852968"/>
            <a:chOff x="6627813" y="195717"/>
            <a:chExt cx="1952625" cy="5678034"/>
          </a:xfrm>
        </p:grpSpPr>
        <p:sp>
          <p:nvSpPr>
            <p:cNvPr id="50" name="Freeform 27"/>
            <p:cNvSpPr/>
            <p:nvPr/>
          </p:nvSpPr>
          <p:spPr bwMode="auto">
            <a:xfrm>
              <a:off x="6627813" y="195717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1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2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3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4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5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6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7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8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9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0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1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62" name="Rectangle 6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2133600"/>
            <a:ext cx="6591985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11228" y="787783"/>
            <a:ext cx="5849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25618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t>Prompt Engineering and Mixture-of-Experts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dirty="0"/>
              <a:t>Fundamental Prompting Techniques | Advanced Prompting Strategies | Mixture-of-Experts</a:t>
            </a:r>
          </a:p>
          <a:p>
            <a:endParaRPr dirty="0"/>
          </a:p>
          <a:p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Introduction to Prompt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Prompt engineering is the art of crafting inputs to guide AI models like ChatGPT.</a:t>
            </a:r>
          </a:p>
          <a:p>
            <a:r>
              <a:t>Effective prompts help models generate accurate, relevant, and creative responses.</a:t>
            </a:r>
          </a:p>
          <a:p>
            <a:r>
              <a:t>It combines linguistic clarity, context, and logical structure.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Importance of Prompting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Defines how AI interprets and responds to user queries.</a:t>
            </a:r>
          </a:p>
          <a:p>
            <a:r>
              <a:t>Improves quality, tone, and precision of AI outputs.</a:t>
            </a:r>
          </a:p>
          <a:p>
            <a:r>
              <a:t>Crucial for academic, professional, and creative use cases.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Fundamental Prompting Techniques – Part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1. Clear and Specific Prompts – Avoid ambiguity in instructions.</a:t>
            </a:r>
          </a:p>
          <a:p>
            <a:r>
              <a:t>2. Role-based Prompts – Assign a role to the AI (e.g., 'You are a teacher...').</a:t>
            </a:r>
          </a:p>
          <a:p>
            <a:r>
              <a:t>3. Step-by-step Prompts – Ask the AI to reason or explain its thinking process.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Fundamental Prompting Techniques – Part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4. Example-driven Prompts – Provide examples to shape the model’s output.</a:t>
            </a:r>
          </a:p>
          <a:p>
            <a:r>
              <a:t>5. Question-based Prompts – Encourage reasoning by asking direct questions.</a:t>
            </a:r>
          </a:p>
          <a:p>
            <a:r>
              <a:t>6. Constraint Prompts – Set limits (e.g., word count, tone, or format).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Advanced Prompting Strategies – Part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1. Chain-of-Thought (CoT) – Guide the model to explain reasoning step by step.</a:t>
            </a:r>
          </a:p>
          <a:p>
            <a:r>
              <a:t>2. Few-shot Prompting – Provide a few examples to teach the desired output style.</a:t>
            </a:r>
          </a:p>
          <a:p>
            <a:r>
              <a:t>3. Self-Consistency – Generate multiple outputs and select the most logical 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Advanced Prompting Strategies – Part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4. Role-Chaining – Switch roles within prompts to improve responses.</a:t>
            </a:r>
          </a:p>
          <a:p>
            <a:r>
              <a:t>5. Tree-of-Thought – Explore multiple reasoning paths for complex problems.</a:t>
            </a:r>
          </a:p>
          <a:p>
            <a:r>
              <a:t>6. ReAct Prompting – Combine reasoning with action for interactive tasks.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Mixture-of-Experts (MoE) –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Mixture-of-Experts is an AI model architecture that uses multiple specialized experts.</a:t>
            </a:r>
          </a:p>
          <a:p>
            <a:r>
              <a:t>Each expert focuses on specific tasks or data domains.</a:t>
            </a:r>
          </a:p>
          <a:p>
            <a:r>
              <a:t>A gating network decides which expert to activate for each input.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Mixture-of-Experts – 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1. Efficiency – Reduces computational cost by activating only relevant experts.</a:t>
            </a:r>
          </a:p>
          <a:p>
            <a:r>
              <a:t>2. Scalability – Supports training of very large models.</a:t>
            </a:r>
          </a:p>
          <a:p>
            <a:r>
              <a:t>3. Accuracy – Improves results by combining specialized knowledge.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Prompt Engineering is the foundation for effective AI communication.</a:t>
            </a:r>
          </a:p>
          <a:p>
            <a:r>
              <a:t>Advanced prompting and MoE architectures enhance accuracy and performance.</a:t>
            </a:r>
          </a:p>
          <a:p>
            <a:r>
              <a:t>Future of AI lies in the synergy of human creativity and expert-driven models.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2</TotalTime>
  <Words>402</Words>
  <Application>Microsoft Office PowerPoint</Application>
  <PresentationFormat>On-screen Show (4:3)</PresentationFormat>
  <Paragraphs>47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Century Gothic</vt:lpstr>
      <vt:lpstr>Wingdings 3</vt:lpstr>
      <vt:lpstr>Wisp</vt:lpstr>
      <vt:lpstr>Prompt Engineering and Mixture-of-Experts</vt:lpstr>
      <vt:lpstr>Introduction to Prompt Engineering</vt:lpstr>
      <vt:lpstr>Importance of Prompting</vt:lpstr>
      <vt:lpstr>Fundamental Prompting Techniques – Part 1</vt:lpstr>
      <vt:lpstr>Fundamental Prompting Techniques – Part 2</vt:lpstr>
      <vt:lpstr>Advanced Prompting Strategies – Part 1</vt:lpstr>
      <vt:lpstr>Advanced Prompting Strategies – Part 2</vt:lpstr>
      <vt:lpstr>Mixture-of-Experts (MoE) – Introduction</vt:lpstr>
      <vt:lpstr>Mixture-of-Experts – Advantages</vt:lpstr>
      <vt:lpstr>Conclusion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Prompt Engineering and Mixture-of-Experts</dc:title>
  <dc:subject/>
  <dc:creator/>
  <cp:keywords/>
  <dc:description>generated using python-pptx</dc:description>
  <cp:lastModifiedBy>Mohammad Tajuddin (Auditor -II - Audit)</cp:lastModifiedBy>
  <cp:revision>2</cp:revision>
  <dcterms:created xsi:type="dcterms:W3CDTF">2013-01-27T09:14:16Z</dcterms:created>
  <dcterms:modified xsi:type="dcterms:W3CDTF">2025-11-10T05:18:08Z</dcterms:modified>
  <cp:category/>
</cp:coreProperties>
</file>