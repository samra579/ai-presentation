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9" d="100"/>
          <a:sy n="79" d="100"/>
        </p:scale>
        <p:origin x="1570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6726063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3787" y="4243845"/>
            <a:ext cx="2307831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6726064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6833787" y="2590078"/>
            <a:ext cx="2307832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0242" y="2733709"/>
            <a:ext cx="6069268" cy="1373070"/>
          </a:xfrm>
        </p:spPr>
        <p:txBody>
          <a:bodyPr anchor="b">
            <a:noAutofit/>
          </a:bodyPr>
          <a:lstStyle>
            <a:lvl1pPr algn="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0241" y="4394040"/>
            <a:ext cx="6108101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55655" y="5936188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401" y="5936189"/>
            <a:ext cx="402166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010399" y="2750337"/>
            <a:ext cx="1370293" cy="1356442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61393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28" name="Picture 27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9" name="Picture 28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30" name="Rectangle 29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Rectangle 30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86866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2728432"/>
            <a:ext cx="9161969" cy="1677035"/>
            <a:chOff x="0" y="2895600"/>
            <a:chExt cx="9161969" cy="1677035"/>
          </a:xfrm>
        </p:grpSpPr>
        <p:pic>
          <p:nvPicPr>
            <p:cNvPr id="19" name="Picture 18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0" name="Picture 19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1" name="Rectangle 20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1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2869895"/>
            <a:ext cx="688915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1639" y="4232172"/>
            <a:ext cx="688915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65810" y="5936188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400" y="5936189"/>
            <a:ext cx="483467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56438" y="2869896"/>
            <a:ext cx="1149836" cy="1090789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14685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8" name="Picture 17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9" name="Picture 18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0" name="Rectangle 19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Rectangle 20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753228"/>
            <a:ext cx="688739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3400" y="2336873"/>
            <a:ext cx="3357899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61128" y="2336873"/>
            <a:ext cx="3359661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2211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7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29" name="Picture 28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30" name="Picture 29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31" name="Rectangle 30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Rectangle 31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753230"/>
            <a:ext cx="6896534" cy="10809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0988" y="2336874"/>
            <a:ext cx="3145080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1638" y="3030009"/>
            <a:ext cx="3367045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82646" y="2336873"/>
            <a:ext cx="3145527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061129" y="3030009"/>
            <a:ext cx="3367044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6410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6" name="Picture 15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7" name="Picture 16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18" name="Rectangle 17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85986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HD-ShadowShort.p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71"/>
          <a:stretch/>
        </p:blipFill>
        <p:spPr>
          <a:xfrm>
            <a:off x="7717217" y="1973262"/>
            <a:ext cx="1444752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7710769" y="609600"/>
            <a:ext cx="1433231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9150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8" name="Picture 17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9" name="Picture 18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0" name="Rectangle 19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Rectangle 20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753227"/>
            <a:ext cx="6896534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14385" y="2336874"/>
            <a:ext cx="3913788" cy="3599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3401" y="2336873"/>
            <a:ext cx="2796240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75094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8" name="Picture 17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9" name="Picture 18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0" name="Rectangle 19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Rectangle 20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10956" y="2336874"/>
            <a:ext cx="3917217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1638" y="2336874"/>
            <a:ext cx="2798487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72486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/>
          <p:cNvGrpSpPr/>
          <p:nvPr/>
        </p:nvGrpSpPr>
        <p:grpSpPr>
          <a:xfrm>
            <a:off x="0" y="4572000"/>
            <a:ext cx="9161969" cy="1677035"/>
            <a:chOff x="0" y="2895600"/>
            <a:chExt cx="9161969" cy="1677035"/>
          </a:xfrm>
        </p:grpSpPr>
        <p:pic>
          <p:nvPicPr>
            <p:cNvPr id="24" name="Picture 23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5" name="Picture 24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6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3" y="4711617"/>
            <a:ext cx="6894770" cy="544482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31639" y="609598"/>
            <a:ext cx="6896534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3401" y="5256098"/>
            <a:ext cx="6894772" cy="547819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56438" y="4711310"/>
            <a:ext cx="1149836" cy="1090789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4977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/>
          <p:cNvGrpSpPr/>
          <p:nvPr/>
        </p:nvGrpSpPr>
        <p:grpSpPr>
          <a:xfrm>
            <a:off x="0" y="4572000"/>
            <a:ext cx="9161969" cy="1677035"/>
            <a:chOff x="0" y="2895600"/>
            <a:chExt cx="9161969" cy="1677035"/>
          </a:xfrm>
        </p:grpSpPr>
        <p:pic>
          <p:nvPicPr>
            <p:cNvPr id="22" name="Picture 21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3" name="Picture 22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4" name="Rectangle 23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4255" y="609597"/>
            <a:ext cx="6896534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1638" y="4710340"/>
            <a:ext cx="6889151" cy="1101764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56438" y="4711616"/>
            <a:ext cx="1149836" cy="1090789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66007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/>
          <p:cNvGrpSpPr/>
          <p:nvPr/>
        </p:nvGrpSpPr>
        <p:grpSpPr>
          <a:xfrm>
            <a:off x="0" y="4572000"/>
            <a:ext cx="9161969" cy="1677035"/>
            <a:chOff x="0" y="2895600"/>
            <a:chExt cx="9161969" cy="1677035"/>
          </a:xfrm>
        </p:grpSpPr>
        <p:pic>
          <p:nvPicPr>
            <p:cNvPr id="30" name="Picture 29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31" name="Picture 30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32" name="Rectangle 31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Rectangle 32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921" y="616983"/>
            <a:ext cx="642514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989438" y="3660763"/>
            <a:ext cx="5987731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1638" y="4710340"/>
            <a:ext cx="6903919" cy="1101764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56438" y="4709926"/>
            <a:ext cx="1149836" cy="1090789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7" name="TextBox 26"/>
          <p:cNvSpPr txBox="1"/>
          <p:nvPr/>
        </p:nvSpPr>
        <p:spPr>
          <a:xfrm>
            <a:off x="270932" y="748116"/>
            <a:ext cx="5334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67191" y="2998573"/>
            <a:ext cx="457200" cy="58477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506156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/>
          <p:cNvGrpSpPr/>
          <p:nvPr/>
        </p:nvGrpSpPr>
        <p:grpSpPr>
          <a:xfrm>
            <a:off x="0" y="4572000"/>
            <a:ext cx="9161969" cy="1677035"/>
            <a:chOff x="0" y="2895600"/>
            <a:chExt cx="9161969" cy="1677035"/>
          </a:xfrm>
        </p:grpSpPr>
        <p:pic>
          <p:nvPicPr>
            <p:cNvPr id="23" name="Picture 22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4" name="Picture 23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5" name="Rectangle 24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8" y="4710340"/>
            <a:ext cx="6896534" cy="58981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1639" y="5300150"/>
            <a:ext cx="6896534" cy="511954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56438" y="4709926"/>
            <a:ext cx="1149836" cy="1090789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256764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24" name="Picture 23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5" name="Picture 24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6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32629" y="2329489"/>
            <a:ext cx="2194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539777" y="3015290"/>
            <a:ext cx="219456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878413" y="2336873"/>
            <a:ext cx="2194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2879710" y="3007906"/>
            <a:ext cx="219456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226136" y="2336873"/>
            <a:ext cx="2194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233520" y="3007905"/>
            <a:ext cx="219456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82025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35" name="Picture 34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36" name="Picture 35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37" name="Rectangle 36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8" name="Rectangle 37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532391" y="4297503"/>
            <a:ext cx="21922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532391" y="2336873"/>
            <a:ext cx="2192257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532391" y="4873765"/>
            <a:ext cx="219225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870497" y="4297503"/>
            <a:ext cx="221507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870497" y="2336873"/>
            <a:ext cx="221507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2869483" y="4873764"/>
            <a:ext cx="2218004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231028" y="4297503"/>
            <a:ext cx="219433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231027" y="2336873"/>
            <a:ext cx="2194333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230934" y="4873762"/>
            <a:ext cx="2197239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3595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7" name="Picture 16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8" name="Picture 17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19" name="Rectangle 18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Rectangle 19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648392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 rot="5400000">
            <a:off x="4575305" y="2747178"/>
            <a:ext cx="6862555" cy="1368199"/>
            <a:chOff x="2281445" y="609600"/>
            <a:chExt cx="6862555" cy="1368199"/>
          </a:xfrm>
        </p:grpSpPr>
        <p:sp>
          <p:nvSpPr>
            <p:cNvPr id="12" name="Rectangle 11"/>
            <p:cNvSpPr/>
            <p:nvPr/>
          </p:nvSpPr>
          <p:spPr bwMode="ltGray">
            <a:xfrm>
              <a:off x="2281445" y="609601"/>
              <a:ext cx="5285695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Rectangle 12"/>
            <p:cNvSpPr/>
            <p:nvPr/>
          </p:nvSpPr>
          <p:spPr>
            <a:xfrm>
              <a:off x="7710769" y="609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464798" y="609597"/>
            <a:ext cx="1069602" cy="446193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0241" y="609598"/>
            <a:ext cx="6576359" cy="53265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029144" y="5936188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0241" y="5936189"/>
            <a:ext cx="451895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431152" y="5432500"/>
            <a:ext cx="1149636" cy="1273100"/>
          </a:xfrm>
        </p:spPr>
        <p:txBody>
          <a:bodyPr anchor="t"/>
          <a:lstStyle>
            <a:lvl1pPr algn="ctr"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6674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C:\Users\James\Desktop\msft\Berlin\build Assets\hashOverlaySD-FullResolve.png"/>
          <p:cNvPicPr>
            <a:picLocks noChangeAspect="1" noChangeArrowheads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9144000" cy="68580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2336873"/>
            <a:ext cx="6887389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67881" y="5936188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3400" y="5936189"/>
            <a:ext cx="48346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48600" y="753228"/>
            <a:ext cx="1157674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380745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727" r:id="rId13"/>
    <p:sldLayoutId id="2147483728" r:id="rId14"/>
    <p:sldLayoutId id="2147483729" r:id="rId15"/>
    <p:sldLayoutId id="2147483730" r:id="rId16"/>
    <p:sldLayoutId id="2147483731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Evolution of Artificial Intelligence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From 1950s to the Era of Agentic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1950s – The Beginning of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Alan Turing (1950): Introduced the idea 'Can machines think?' and created the Turing Test.</a:t>
            </a:r>
          </a:p>
          <a:p>
            <a:r>
              <a:t>• 1956: John McCarthy, Marvin Minsky, Allen Newell, and Herbert Simon officially named 'Artificial Intelligence' at the Dartmouth Conference.</a:t>
            </a:r>
          </a:p>
          <a:p>
            <a:r>
              <a:t>• Newell &amp; Simon built the first AI program 'Logic Theorist'.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1960s–1980s – Rule-Based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AI focused on logic and rule-based problem solving.</a:t>
            </a:r>
          </a:p>
          <a:p>
            <a:r>
              <a:t>• Expert Systems created for specific fields (e.g., MYCIN for medical diagnosis).</a:t>
            </a:r>
          </a:p>
          <a:p>
            <a:r>
              <a:t>• Limited data and weak computers caused slow progress, leading to the 'AI Winter' period.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1990s–2010s – Machine Learning &amp; Deep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AI revived with more data and powerful computers.</a:t>
            </a:r>
          </a:p>
          <a:p>
            <a:r>
              <a:t>• Machine Learning introduced self-learning systems.</a:t>
            </a:r>
          </a:p>
          <a:p>
            <a:r>
              <a:t>• Geoffrey Hinton, Yann LeCun, and Yoshua Bengio popularized Deep Learning.</a:t>
            </a:r>
          </a:p>
          <a:p>
            <a:r>
              <a:t>• AI started recognizing images, speech, and patterns efficiently.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2017–Present – Rise of Large Language Models (LLMs)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2017: Google introduced the Transformer model (paper: 'Attention Is All You Need').</a:t>
            </a:r>
          </a:p>
          <a:p>
            <a:r>
              <a:t>• This allowed AI to understand and generate human-like language.</a:t>
            </a:r>
          </a:p>
          <a:p>
            <a:r>
              <a:t>• OpenAI built GPT models (e.g., ChatGPT) using this technology.</a:t>
            </a:r>
          </a:p>
          <a:p>
            <a:r>
              <a:t>• LLMs like GPT and Gemini changed how humans interact with AI.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Agentic AI – The New Era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AI now takes actions, plans tasks, and makes decisions independently.</a:t>
            </a:r>
          </a:p>
          <a:p>
            <a:r>
              <a:t>• Agentic AI is used as an intelligent, active problem-solver.</a:t>
            </a:r>
          </a:p>
          <a:p>
            <a:r>
              <a:t>• Represents the most advanced stage of AI evolution.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AI started with Alan Turing’s question: 'Can machines think?'</a:t>
            </a:r>
          </a:p>
          <a:p>
            <a:r>
              <a:t>• John McCarthy gave it a name in 1956.</a:t>
            </a:r>
          </a:p>
          <a:p>
            <a:r>
              <a:t>• From rule-based systems to Deep Learning and LLMs, AI evolved rapidly.</a:t>
            </a:r>
          </a:p>
          <a:p>
            <a:r>
              <a:t>• Today’s Agentic AI can think, plan, and act like humans.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0CBE056-4EF4-4D92-969E-947779DA7AA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TM04033917[[fn=Berlin]]</Template>
  <TotalTime>5</TotalTime>
  <Words>339</Words>
  <Application>Microsoft Office PowerPoint</Application>
  <PresentationFormat>On-screen Show (4:3)</PresentationFormat>
  <Paragraphs>29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Trebuchet MS</vt:lpstr>
      <vt:lpstr>Berlin</vt:lpstr>
      <vt:lpstr>Evolution of Artificial Intelligence</vt:lpstr>
      <vt:lpstr>1950s – The Beginning of AI</vt:lpstr>
      <vt:lpstr>1960s–1980s – Rule-Based Systems</vt:lpstr>
      <vt:lpstr>1990s–2010s – Machine Learning &amp; Deep Learning</vt:lpstr>
      <vt:lpstr>2017–Present – Rise of Large Language Models (LLMs)</vt:lpstr>
      <vt:lpstr>Agentic AI – The New Era</vt:lpstr>
      <vt:lpstr>Summary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Hp</cp:lastModifiedBy>
  <cp:revision>2</cp:revision>
  <dcterms:created xsi:type="dcterms:W3CDTF">2013-01-27T09:14:16Z</dcterms:created>
  <dcterms:modified xsi:type="dcterms:W3CDTF">2025-10-30T03:32:54Z</dcterms:modified>
  <cp:category/>
</cp:coreProperties>
</file>